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Neo Tech Bold" charset="1" panose="020B0804030504040204"/>
      <p:regular r:id="rId27"/>
    </p:embeddedFont>
    <p:embeddedFont>
      <p:font typeface="Koho Bold" charset="1" panose="00000800000000000000"/>
      <p:regular r:id="rId28"/>
    </p:embeddedFont>
    <p:embeddedFont>
      <p:font typeface="Koho" charset="1" panose="000005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Masters/notesMaster1.xml" Type="http://schemas.openxmlformats.org/officeDocument/2006/relationships/notesMaster"/><Relationship Id="rId3" Target="viewProps.xml" Type="http://schemas.openxmlformats.org/officeDocument/2006/relationships/viewProps"/><Relationship Id="rId30" Target="theme/theme2.xml" Type="http://schemas.openxmlformats.org/officeDocument/2006/relationships/theme"/><Relationship Id="rId31" Target="notesSlides/notesSlide1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2.xml" Type="http://schemas.openxmlformats.org/officeDocument/2006/relationships/notesSlide"/><Relationship Id="rId34" Target="notesSlides/notesSlide3.xml" Type="http://schemas.openxmlformats.org/officeDocument/2006/relationships/notesSlide"/><Relationship Id="rId35" Target="notesSlides/notesSlide4.xml" Type="http://schemas.openxmlformats.org/officeDocument/2006/relationships/notesSlide"/><Relationship Id="rId36" Target="notesSlides/notesSlide5.xml" Type="http://schemas.openxmlformats.org/officeDocument/2006/relationships/notesSlide"/><Relationship Id="rId37" Target="notesSlides/notesSlide6.xml" Type="http://schemas.openxmlformats.org/officeDocument/2006/relationships/notesSlide"/><Relationship Id="rId38" Target="notesSlides/notesSlide7.xml" Type="http://schemas.openxmlformats.org/officeDocument/2006/relationships/notesSlide"/><Relationship Id="rId39" Target="notesSlides/notesSlide8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9.xml" Type="http://schemas.openxmlformats.org/officeDocument/2006/relationships/notesSlide"/><Relationship Id="rId41" Target="notesSlides/notesSlide10.xml" Type="http://schemas.openxmlformats.org/officeDocument/2006/relationships/notesSlide"/><Relationship Id="rId42" Target="notesSlides/notesSlide11.xml" Type="http://schemas.openxmlformats.org/officeDocument/2006/relationships/notesSlide"/><Relationship Id="rId43" Target="notesSlides/notesSlide12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En UniCoin implementamos un gestor de credenciales basado en SHA256. Las contraseñas son protegidas mediante una sal aleatoria y 210.000 iteraciones.</a:t>
            </a:r>
          </a:p>
          <a:p>
            <a:r>
              <a:rPr lang="en-US"/>
              <a:t>De esta manera se aumenta el coste computacional y dificulta ataques de fuerza bruta. Además, aplicamos una política de contraseñas robustas y generamos tokens seguros para las sesiones.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Tras autenticarse, el profesor recibe un token de sesión generado aleatoriamente y se almacena junto con una fecha de expiración. Este token sustituye temporalmente a la contraseña y permite realizar operaciones durante 15 minutos.</a:t>
            </a:r>
          </a:p>
          <a:p>
            <a:r>
              <a:rPr lang="en-US"/>
              <a:t>Además, el Secure Proxy verifica el token antes de autorizar cualquier acción, aplicando el principio de autenticación previa y reduciendo la exposición de credenciales. Si el token no es valido se lanza una excepción y la operación no se ejecuta.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Seguimos la metodología S-TDD, con el ciclo Red, Green, Refactor. Comenzamos desarrollando primero las pruebas que deben fallar, tanto funcionales como de seguridad, y posteriormente la implementación el código necesario para que pase dichas pruebas. Este enfoque nos permitió verificar los requisitos desde el inicio y detectar posibles vulnerabilidades. Finalmente, utilizamos SonarQube para refactorizar y mejorar la calidad del código.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Para mantener un diseño seguro hemos aplicado los patrones de seguridad Design by Contract para validar requisitos, Secure Proxy para controlar el acceso y Secure Strategy Factory para desacoplar los algoritmos criptográficos. Igualmente, seguimos los principios SOLID los aplicamos para mejorar la mantenibilidad, extensibilidad y seguridad del sistema.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6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46575" y="50597"/>
            <a:ext cx="8394851" cy="8394851"/>
          </a:xfrm>
          <a:custGeom>
            <a:avLst/>
            <a:gdLst/>
            <a:ahLst/>
            <a:cxnLst/>
            <a:rect r="r" b="b" t="t" l="l"/>
            <a:pathLst>
              <a:path h="8394851" w="8394851">
                <a:moveTo>
                  <a:pt x="0" y="0"/>
                </a:moveTo>
                <a:lnTo>
                  <a:pt x="8394850" y="0"/>
                </a:lnTo>
                <a:lnTo>
                  <a:pt x="8394850" y="8394850"/>
                </a:lnTo>
                <a:lnTo>
                  <a:pt x="0" y="8394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</a:blip>
            <a:stretch>
              <a:fillRect l="-4807" t="0" r="-1118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07634" y="3044125"/>
            <a:ext cx="8472733" cy="2226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71"/>
              </a:lnSpc>
            </a:pPr>
            <a:r>
              <a:rPr lang="en-US" b="true" sz="13483">
                <a:solidFill>
                  <a:srgbClr val="2B3B5E"/>
                </a:solidFill>
                <a:latin typeface="Neo Tech Bold"/>
                <a:ea typeface="Neo Tech Bold"/>
                <a:cs typeface="Neo Tech Bold"/>
                <a:sym typeface="Neo Tech Bold"/>
              </a:rPr>
              <a:t>UNICOIN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3499617" y="-337506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19431" y="7724855"/>
            <a:ext cx="4849137" cy="2466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0"/>
              </a:lnSpc>
            </a:pPr>
            <a:r>
              <a:rPr lang="en-US" b="true" sz="2491">
                <a:solidFill>
                  <a:srgbClr val="3B558F"/>
                </a:solidFill>
                <a:latin typeface="Koho Bold"/>
                <a:ea typeface="Koho Bold"/>
                <a:cs typeface="Koho Bold"/>
                <a:sym typeface="Koho Bold"/>
              </a:rPr>
              <a:t>Lara Moriel</a:t>
            </a:r>
          </a:p>
          <a:p>
            <a:pPr algn="ctr">
              <a:lnSpc>
                <a:spcPts val="2840"/>
              </a:lnSpc>
            </a:pPr>
            <a:r>
              <a:rPr lang="en-US" b="true" sz="2491">
                <a:solidFill>
                  <a:srgbClr val="3B558F"/>
                </a:solidFill>
                <a:latin typeface="Koho Bold"/>
                <a:ea typeface="Koho Bold"/>
                <a:cs typeface="Koho Bold"/>
                <a:sym typeface="Koho Bold"/>
              </a:rPr>
              <a:t>Sofía Casermeiro</a:t>
            </a:r>
          </a:p>
          <a:p>
            <a:pPr algn="ctr">
              <a:lnSpc>
                <a:spcPts val="2840"/>
              </a:lnSpc>
            </a:pPr>
            <a:r>
              <a:rPr lang="en-US" b="true" sz="2491">
                <a:solidFill>
                  <a:srgbClr val="3B558F"/>
                </a:solidFill>
                <a:latin typeface="Koho Bold"/>
                <a:ea typeface="Koho Bold"/>
                <a:cs typeface="Koho Bold"/>
                <a:sym typeface="Koho Bold"/>
              </a:rPr>
              <a:t>Nikhil Baxani</a:t>
            </a:r>
          </a:p>
          <a:p>
            <a:pPr algn="ctr">
              <a:lnSpc>
                <a:spcPts val="2840"/>
              </a:lnSpc>
            </a:pPr>
            <a:r>
              <a:rPr lang="en-US" b="true" sz="2491">
                <a:solidFill>
                  <a:srgbClr val="3B558F"/>
                </a:solidFill>
                <a:latin typeface="Koho Bold"/>
                <a:ea typeface="Koho Bold"/>
                <a:cs typeface="Koho Bold"/>
                <a:sym typeface="Koho Bold"/>
              </a:rPr>
              <a:t>Enrique Pérez</a:t>
            </a:r>
          </a:p>
          <a:p>
            <a:pPr algn="ctr">
              <a:lnSpc>
                <a:spcPts val="2840"/>
              </a:lnSpc>
            </a:pPr>
            <a:r>
              <a:rPr lang="en-US" b="true" sz="2491">
                <a:solidFill>
                  <a:srgbClr val="3B558F"/>
                </a:solidFill>
                <a:latin typeface="Koho Bold"/>
                <a:ea typeface="Koho Bold"/>
                <a:cs typeface="Koho Bold"/>
                <a:sym typeface="Koho Bold"/>
              </a:rPr>
              <a:t>Amelia Martínez</a:t>
            </a:r>
          </a:p>
          <a:p>
            <a:pPr algn="ctr">
              <a:lnSpc>
                <a:spcPts val="2840"/>
              </a:lnSpc>
            </a:pPr>
            <a:r>
              <a:rPr lang="en-US" b="true" sz="2491">
                <a:solidFill>
                  <a:srgbClr val="3B558F"/>
                </a:solidFill>
                <a:latin typeface="Koho Bold"/>
                <a:ea typeface="Koho Bold"/>
                <a:cs typeface="Koho Bold"/>
                <a:sym typeface="Koho Bold"/>
              </a:rPr>
              <a:t>Gael Espín</a:t>
            </a:r>
          </a:p>
          <a:p>
            <a:pPr algn="ctr">
              <a:lnSpc>
                <a:spcPts val="284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true" rot="-151067">
            <a:off x="-1812924" y="4400378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0" y="10230242"/>
                </a:moveTo>
                <a:lnTo>
                  <a:pt x="7161170" y="10230242"/>
                </a:lnTo>
                <a:lnTo>
                  <a:pt x="7161170" y="0"/>
                </a:lnTo>
                <a:lnTo>
                  <a:pt x="0" y="0"/>
                </a:lnTo>
                <a:lnTo>
                  <a:pt x="0" y="1023024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25238" y="-129416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70636" y="7383802"/>
            <a:ext cx="7967670" cy="4172162"/>
          </a:xfrm>
          <a:custGeom>
            <a:avLst/>
            <a:gdLst/>
            <a:ahLst/>
            <a:cxnLst/>
            <a:rect r="r" b="b" t="t" l="l"/>
            <a:pathLst>
              <a:path h="4172162" w="7967670">
                <a:moveTo>
                  <a:pt x="0" y="0"/>
                </a:moveTo>
                <a:lnTo>
                  <a:pt x="7967670" y="0"/>
                </a:lnTo>
                <a:lnTo>
                  <a:pt x="7967670" y="4172162"/>
                </a:lnTo>
                <a:lnTo>
                  <a:pt x="0" y="4172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499617" y="-337506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51067">
            <a:off x="-1812924" y="4400378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0" y="10230242"/>
                </a:moveTo>
                <a:lnTo>
                  <a:pt x="7161170" y="10230242"/>
                </a:lnTo>
                <a:lnTo>
                  <a:pt x="7161170" y="0"/>
                </a:lnTo>
                <a:lnTo>
                  <a:pt x="0" y="0"/>
                </a:lnTo>
                <a:lnTo>
                  <a:pt x="0" y="10230242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5238" y="-129416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70636" y="7383802"/>
            <a:ext cx="7967670" cy="4172162"/>
          </a:xfrm>
          <a:custGeom>
            <a:avLst/>
            <a:gdLst/>
            <a:ahLst/>
            <a:cxnLst/>
            <a:rect r="r" b="b" t="t" l="l"/>
            <a:pathLst>
              <a:path h="4172162" w="7967670">
                <a:moveTo>
                  <a:pt x="0" y="0"/>
                </a:moveTo>
                <a:lnTo>
                  <a:pt x="7967670" y="0"/>
                </a:lnTo>
                <a:lnTo>
                  <a:pt x="7967670" y="4172162"/>
                </a:lnTo>
                <a:lnTo>
                  <a:pt x="0" y="4172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76781" y="798474"/>
            <a:ext cx="11734437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9"/>
              </a:lnSpc>
            </a:pPr>
            <a:r>
              <a:rPr lang="en-US" b="true" sz="75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ÍNDICE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71483" y="2459724"/>
            <a:ext cx="11592201" cy="623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3" indent="-431796" lvl="1">
              <a:lnSpc>
                <a:spcPts val="4999"/>
              </a:lnSpc>
              <a:buFont typeface="Arial"/>
              <a:buChar char="•"/>
            </a:pPr>
            <a:r>
              <a:rPr lang="en-US" b="true" sz="39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Introducción - Problema y contexto</a:t>
            </a:r>
          </a:p>
          <a:p>
            <a:pPr algn="l" marL="863593" indent="-431796" lvl="1">
              <a:lnSpc>
                <a:spcPts val="4999"/>
              </a:lnSpc>
              <a:buFont typeface="Arial"/>
              <a:buChar char="•"/>
            </a:pPr>
            <a:r>
              <a:rPr lang="en-US" b="true" sz="39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Actividades de ingeniería de seguridad</a:t>
            </a:r>
          </a:p>
          <a:p>
            <a:pPr algn="l" marL="1468112" indent="-489371" lvl="2">
              <a:lnSpc>
                <a:spcPts val="4249"/>
              </a:lnSpc>
              <a:buFont typeface="Arial"/>
              <a:buChar char="⚬"/>
            </a:pPr>
            <a:r>
              <a:rPr lang="en-US" sz="33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Análisis de partes y puntos de vista</a:t>
            </a:r>
          </a:p>
          <a:p>
            <a:pPr algn="l" marL="1468112" indent="-489371" lvl="2">
              <a:lnSpc>
                <a:spcPts val="4249"/>
              </a:lnSpc>
              <a:buFont typeface="Arial"/>
              <a:buChar char="⚬"/>
            </a:pPr>
            <a:r>
              <a:rPr lang="en-US" sz="33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Requisitos </a:t>
            </a:r>
          </a:p>
          <a:p>
            <a:pPr algn="l" marL="1468112" indent="-489371" lvl="2">
              <a:lnSpc>
                <a:spcPts val="4249"/>
              </a:lnSpc>
              <a:buFont typeface="Arial"/>
              <a:buChar char="⚬"/>
            </a:pPr>
            <a:r>
              <a:rPr lang="en-US" sz="33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Modelo de Dominio</a:t>
            </a:r>
          </a:p>
          <a:p>
            <a:pPr algn="l" marL="1468112" indent="-489371" lvl="2">
              <a:lnSpc>
                <a:spcPts val="4249"/>
              </a:lnSpc>
              <a:buFont typeface="Arial"/>
              <a:buChar char="⚬"/>
            </a:pPr>
            <a:r>
              <a:rPr lang="en-US" sz="33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Modelo de Diseño</a:t>
            </a:r>
          </a:p>
          <a:p>
            <a:pPr algn="l" marL="1468112" indent="-489371" lvl="2">
              <a:lnSpc>
                <a:spcPts val="4249"/>
              </a:lnSpc>
              <a:buFont typeface="Arial"/>
              <a:buChar char="⚬"/>
            </a:pPr>
            <a:r>
              <a:rPr lang="en-US" sz="33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Soluciones</a:t>
            </a:r>
          </a:p>
          <a:p>
            <a:pPr algn="l" marL="1468112" indent="-489371" lvl="2">
              <a:lnSpc>
                <a:spcPts val="4249"/>
              </a:lnSpc>
              <a:buFont typeface="Arial"/>
              <a:buChar char="⚬"/>
            </a:pPr>
            <a:r>
              <a:rPr lang="en-US" sz="33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Desarrollo seguro</a:t>
            </a:r>
          </a:p>
          <a:p>
            <a:pPr algn="l" marL="1468112" indent="-489371" lvl="2">
              <a:lnSpc>
                <a:spcPts val="4249"/>
              </a:lnSpc>
              <a:buFont typeface="Arial"/>
              <a:buChar char="⚬"/>
            </a:pPr>
            <a:r>
              <a:rPr lang="en-US" sz="33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Pruebas de seguridad</a:t>
            </a:r>
          </a:p>
          <a:p>
            <a:pPr algn="l" marL="863593" indent="-431796" lvl="1">
              <a:lnSpc>
                <a:spcPts val="4999"/>
              </a:lnSpc>
              <a:buFont typeface="Arial"/>
              <a:buChar char="•"/>
            </a:pPr>
            <a:r>
              <a:rPr lang="en-US" b="true" sz="39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Resultados</a:t>
            </a:r>
          </a:p>
          <a:p>
            <a:pPr algn="l" marL="863593" indent="-431796" lvl="1">
              <a:lnSpc>
                <a:spcPts val="4999"/>
              </a:lnSpc>
              <a:buFont typeface="Arial"/>
              <a:buChar char="•"/>
            </a:pPr>
            <a:r>
              <a:rPr lang="en-US" b="true" sz="39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Conclusiónes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6781" y="807999"/>
            <a:ext cx="11734437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9"/>
              </a:lnSpc>
            </a:pPr>
            <a:r>
              <a:rPr lang="en-US" b="true" sz="75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PROBLEMA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08909" y="3109759"/>
            <a:ext cx="8129601" cy="4632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9"/>
              </a:lnSpc>
            </a:pPr>
            <a:r>
              <a:rPr lang="en-US" sz="3999" b="true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   Situación universitaria actual:</a:t>
            </a:r>
          </a:p>
          <a:p>
            <a:pPr algn="l" marL="863593" indent="-431796" lvl="1">
              <a:lnSpc>
                <a:spcPts val="6199"/>
              </a:lnSpc>
              <a:buFont typeface="Arial"/>
              <a:buChar char="•"/>
            </a:pPr>
            <a:r>
              <a:rPr lang="en-US" sz="39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Desmotivación estudiantil.</a:t>
            </a:r>
          </a:p>
          <a:p>
            <a:pPr algn="l" marL="863593" indent="-431796" lvl="1">
              <a:lnSpc>
                <a:spcPts val="6199"/>
              </a:lnSpc>
              <a:buFont typeface="Arial"/>
              <a:buChar char="•"/>
            </a:pPr>
            <a:r>
              <a:rPr lang="en-US" sz="39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Memorizar antes de entender.</a:t>
            </a:r>
          </a:p>
          <a:p>
            <a:pPr algn="l" marL="863593" indent="-431796" lvl="1">
              <a:lnSpc>
                <a:spcPts val="6199"/>
              </a:lnSpc>
              <a:buFont typeface="Arial"/>
              <a:buChar char="•"/>
            </a:pPr>
            <a:r>
              <a:rPr lang="en-US" sz="39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Alta tasa de absentismo.</a:t>
            </a:r>
          </a:p>
          <a:p>
            <a:pPr algn="l" marL="863593" indent="-431796" lvl="1">
              <a:lnSpc>
                <a:spcPts val="6199"/>
              </a:lnSpc>
              <a:buFont typeface="Arial"/>
              <a:buChar char="•"/>
            </a:pPr>
            <a:r>
              <a:rPr lang="en-US" sz="39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Trabajos y prácticas de baja calidad.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65692">
            <a:off x="-7395545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6778" y="651321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6" y="0"/>
                </a:lnTo>
                <a:lnTo>
                  <a:pt x="1690766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42352" y="2889249"/>
            <a:ext cx="5197171" cy="5197171"/>
          </a:xfrm>
          <a:custGeom>
            <a:avLst/>
            <a:gdLst/>
            <a:ahLst/>
            <a:cxnLst/>
            <a:rect r="r" b="b" t="t" l="l"/>
            <a:pathLst>
              <a:path h="5197171" w="5197171">
                <a:moveTo>
                  <a:pt x="0" y="0"/>
                </a:moveTo>
                <a:lnTo>
                  <a:pt x="5197171" y="0"/>
                </a:lnTo>
                <a:lnTo>
                  <a:pt x="5197171" y="5197171"/>
                </a:lnTo>
                <a:lnTo>
                  <a:pt x="0" y="51971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8367064">
            <a:off x="11369817" y="-58574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3">
              <a:alphaModFix amt="43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6781" y="798474"/>
            <a:ext cx="11734437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9"/>
              </a:lnSpc>
            </a:pPr>
            <a:r>
              <a:rPr lang="en-US" b="true" sz="75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PROPUESTA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01299" y="2530474"/>
            <a:ext cx="14485403" cy="7756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3" indent="-431796" lvl="1">
              <a:lnSpc>
                <a:spcPts val="6199"/>
              </a:lnSpc>
              <a:buFont typeface="Arial"/>
              <a:buChar char="•"/>
            </a:pPr>
            <a:r>
              <a:rPr lang="en-US" b="true" sz="39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UniCoin</a:t>
            </a:r>
            <a:r>
              <a:rPr lang="en-US" sz="39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: plataforma de incentivos basadas en tokens educativos.</a:t>
            </a:r>
          </a:p>
          <a:p>
            <a:pPr algn="l" marL="863593" indent="-431796" lvl="1">
              <a:lnSpc>
                <a:spcPts val="6199"/>
              </a:lnSpc>
              <a:buFont typeface="Arial"/>
              <a:buChar char="•"/>
            </a:pPr>
            <a:r>
              <a:rPr lang="en-US" sz="39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Se ganan UniCoins completando </a:t>
            </a:r>
            <a:r>
              <a:rPr lang="en-US" b="true" sz="39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tareas</a:t>
            </a:r>
            <a:r>
              <a:rPr lang="en-US" sz="39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, subiendo </a:t>
            </a:r>
            <a:r>
              <a:rPr lang="en-US" b="true" sz="39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apuntes</a:t>
            </a:r>
            <a:r>
              <a:rPr lang="en-US" sz="39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 y </a:t>
            </a:r>
            <a:r>
              <a:rPr lang="en-US" b="true" sz="39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participando</a:t>
            </a:r>
            <a:r>
              <a:rPr lang="en-US" sz="39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  <a:p>
            <a:pPr algn="l" marL="863593" indent="-431796" lvl="1">
              <a:lnSpc>
                <a:spcPts val="6199"/>
              </a:lnSpc>
              <a:buFont typeface="Arial"/>
              <a:buChar char="•"/>
            </a:pPr>
            <a:r>
              <a:rPr lang="en-US" sz="39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Canjeo de UniCoins por </a:t>
            </a:r>
            <a:r>
              <a:rPr lang="en-US" b="true" sz="39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recompensas</a:t>
            </a:r>
            <a:r>
              <a:rPr lang="en-US" sz="39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 reales.</a:t>
            </a:r>
          </a:p>
          <a:p>
            <a:pPr algn="l" marL="863593" indent="-431796" lvl="1">
              <a:lnSpc>
                <a:spcPts val="6199"/>
              </a:lnSpc>
              <a:buFont typeface="Arial"/>
              <a:buChar char="•"/>
            </a:pPr>
            <a:r>
              <a:rPr lang="en-US" b="true" sz="39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Objetivo</a:t>
            </a:r>
            <a:r>
              <a:rPr lang="en-US" sz="39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 principal:</a:t>
            </a:r>
          </a:p>
          <a:p>
            <a:pPr algn="l" marL="1727186" indent="-575729" lvl="2">
              <a:lnSpc>
                <a:spcPts val="6199"/>
              </a:lnSpc>
              <a:buFont typeface="Arial"/>
              <a:buChar char="⚬"/>
            </a:pPr>
            <a:r>
              <a:rPr lang="en-US" sz="39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Formar profesionales mejor preparados incentivando el aprendizaje real.</a:t>
            </a:r>
          </a:p>
          <a:p>
            <a:pPr algn="l">
              <a:lnSpc>
                <a:spcPts val="6199"/>
              </a:lnSpc>
            </a:pPr>
          </a:p>
          <a:p>
            <a:pPr algn="l">
              <a:lnSpc>
                <a:spcPts val="619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465692">
            <a:off x="-7395545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8367064">
            <a:off x="11369817" y="-58574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3">
              <a:alphaModFix amt="43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6778" y="651321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6" y="0"/>
                </a:lnTo>
                <a:lnTo>
                  <a:pt x="1690766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6781" y="827049"/>
            <a:ext cx="11734437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PRÁCTICA 1: DEFINICIÓN DEL SISTEMA CON SECURE TROPOS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65692">
            <a:off x="-7395545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8367064">
            <a:off x="11369817" y="-58574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3">
              <a:alphaModFix amt="43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6778" y="651321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6" y="0"/>
                </a:lnTo>
                <a:lnTo>
                  <a:pt x="1690766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97221" y="2529371"/>
            <a:ext cx="8812106" cy="7286358"/>
          </a:xfrm>
          <a:custGeom>
            <a:avLst/>
            <a:gdLst/>
            <a:ahLst/>
            <a:cxnLst/>
            <a:rect r="r" b="b" t="t" l="l"/>
            <a:pathLst>
              <a:path h="7286358" w="8812106">
                <a:moveTo>
                  <a:pt x="0" y="0"/>
                </a:moveTo>
                <a:lnTo>
                  <a:pt x="8812107" y="0"/>
                </a:lnTo>
                <a:lnTo>
                  <a:pt x="8812107" y="7286358"/>
                </a:lnTo>
                <a:lnTo>
                  <a:pt x="0" y="72863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97" r="-11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409328" y="3179129"/>
            <a:ext cx="4600583" cy="566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5" indent="-388618" lvl="1">
              <a:lnSpc>
                <a:spcPts val="4103"/>
              </a:lnSpc>
              <a:buFont typeface="Arial"/>
              <a:buChar char="•"/>
            </a:pPr>
            <a:r>
              <a:rPr lang="en-US" b="true" sz="3599">
                <a:solidFill>
                  <a:srgbClr val="3B558F"/>
                </a:solidFill>
                <a:latin typeface="Koho Bold"/>
                <a:ea typeface="Koho Bold"/>
                <a:cs typeface="Koho Bold"/>
                <a:sym typeface="Koho Bold"/>
              </a:rPr>
              <a:t>A</a:t>
            </a:r>
            <a:r>
              <a:rPr lang="en-US" b="true" sz="3599">
                <a:solidFill>
                  <a:srgbClr val="3B558F"/>
                </a:solidFill>
                <a:latin typeface="Koho Bold"/>
                <a:ea typeface="Koho Bold"/>
                <a:cs typeface="Koho Bold"/>
                <a:sym typeface="Koho Bold"/>
              </a:rPr>
              <a:t>ctores legítimos:</a:t>
            </a:r>
            <a:r>
              <a:rPr lang="en-US" sz="3599">
                <a:solidFill>
                  <a:srgbClr val="3B558F"/>
                </a:solidFill>
                <a:latin typeface="Koho"/>
                <a:ea typeface="Koho"/>
                <a:cs typeface="Koho"/>
                <a:sym typeface="Koho"/>
              </a:rPr>
              <a:t> estudiantes, universidades y empresas patrocinadoras </a:t>
            </a:r>
          </a:p>
          <a:p>
            <a:pPr algn="l" marL="777235" indent="-388618" lvl="1">
              <a:lnSpc>
                <a:spcPts val="4103"/>
              </a:lnSpc>
              <a:buFont typeface="Arial"/>
              <a:buChar char="•"/>
            </a:pPr>
            <a:r>
              <a:rPr lang="en-US" b="true" sz="3599">
                <a:solidFill>
                  <a:srgbClr val="3B558F"/>
                </a:solidFill>
                <a:latin typeface="Koho Bold"/>
                <a:ea typeface="Koho Bold"/>
                <a:cs typeface="Koho Bold"/>
                <a:sym typeface="Koho Bold"/>
              </a:rPr>
              <a:t>Actores maliciosos: </a:t>
            </a:r>
            <a:r>
              <a:rPr lang="en-US" sz="3599">
                <a:solidFill>
                  <a:srgbClr val="3B558F"/>
                </a:solidFill>
                <a:latin typeface="Koho"/>
                <a:ea typeface="Koho"/>
                <a:cs typeface="Koho"/>
                <a:sym typeface="Koho"/>
              </a:rPr>
              <a:t>hackers externos, insiders, bots y estudiantes deshonestos. 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81184" y="726553"/>
            <a:ext cx="852563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PRÁCTICA 2: CASOS DE USO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65692">
            <a:off x="-7395545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8367064">
            <a:off x="11369817" y="-58574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6778" y="651321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6" y="0"/>
                </a:lnTo>
                <a:lnTo>
                  <a:pt x="1690766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77544" y="1923329"/>
            <a:ext cx="13761799" cy="8549518"/>
          </a:xfrm>
          <a:custGeom>
            <a:avLst/>
            <a:gdLst/>
            <a:ahLst/>
            <a:cxnLst/>
            <a:rect r="r" b="b" t="t" l="l"/>
            <a:pathLst>
              <a:path h="8549518" w="13761799">
                <a:moveTo>
                  <a:pt x="0" y="0"/>
                </a:moveTo>
                <a:lnTo>
                  <a:pt x="13761799" y="0"/>
                </a:lnTo>
                <a:lnTo>
                  <a:pt x="13761799" y="8549518"/>
                </a:lnTo>
                <a:lnTo>
                  <a:pt x="0" y="85495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81184" y="726553"/>
            <a:ext cx="852563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PRÁCTICA 2: REQUISITOS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65692">
            <a:off x="-7395545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8367064">
            <a:off x="11369817" y="-58574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3">
              <a:alphaModFix amt="43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6778" y="651321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6" y="0"/>
                </a:lnTo>
                <a:lnTo>
                  <a:pt x="1690766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76781" y="2089592"/>
            <a:ext cx="11510993" cy="7841864"/>
          </a:xfrm>
          <a:custGeom>
            <a:avLst/>
            <a:gdLst/>
            <a:ahLst/>
            <a:cxnLst/>
            <a:rect r="r" b="b" t="t" l="l"/>
            <a:pathLst>
              <a:path h="7841864" w="11510993">
                <a:moveTo>
                  <a:pt x="0" y="0"/>
                </a:moveTo>
                <a:lnTo>
                  <a:pt x="11510993" y="0"/>
                </a:lnTo>
                <a:lnTo>
                  <a:pt x="11510993" y="7841864"/>
                </a:lnTo>
                <a:lnTo>
                  <a:pt x="0" y="78418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6781" y="827049"/>
            <a:ext cx="1173443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PRÁCTICA 3: MODELO DE DOMINIO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65692">
            <a:off x="-7395545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8367064">
            <a:off x="11379342" y="-58574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6778" y="651321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6" y="0"/>
                </a:lnTo>
                <a:lnTo>
                  <a:pt x="1690766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24707" y="4742523"/>
            <a:ext cx="4127850" cy="2143306"/>
          </a:xfrm>
          <a:custGeom>
            <a:avLst/>
            <a:gdLst/>
            <a:ahLst/>
            <a:cxnLst/>
            <a:rect r="r" b="b" t="t" l="l"/>
            <a:pathLst>
              <a:path h="2143306" w="4127850">
                <a:moveTo>
                  <a:pt x="0" y="0"/>
                </a:moveTo>
                <a:lnTo>
                  <a:pt x="4127850" y="0"/>
                </a:lnTo>
                <a:lnTo>
                  <a:pt x="4127850" y="2143306"/>
                </a:lnTo>
                <a:lnTo>
                  <a:pt x="0" y="2143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41175" y="2153067"/>
            <a:ext cx="3398369" cy="2103681"/>
          </a:xfrm>
          <a:custGeom>
            <a:avLst/>
            <a:gdLst/>
            <a:ahLst/>
            <a:cxnLst/>
            <a:rect r="r" b="b" t="t" l="l"/>
            <a:pathLst>
              <a:path h="2103681" w="3398369">
                <a:moveTo>
                  <a:pt x="0" y="0"/>
                </a:moveTo>
                <a:lnTo>
                  <a:pt x="3398369" y="0"/>
                </a:lnTo>
                <a:lnTo>
                  <a:pt x="3398369" y="2103681"/>
                </a:lnTo>
                <a:lnTo>
                  <a:pt x="0" y="21036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529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41175" y="7525579"/>
            <a:ext cx="3505240" cy="2039935"/>
          </a:xfrm>
          <a:custGeom>
            <a:avLst/>
            <a:gdLst/>
            <a:ahLst/>
            <a:cxnLst/>
            <a:rect r="r" b="b" t="t" l="l"/>
            <a:pathLst>
              <a:path h="2039935" w="3505240">
                <a:moveTo>
                  <a:pt x="0" y="0"/>
                </a:moveTo>
                <a:lnTo>
                  <a:pt x="3505240" y="0"/>
                </a:lnTo>
                <a:lnTo>
                  <a:pt x="3505240" y="2039935"/>
                </a:lnTo>
                <a:lnTo>
                  <a:pt x="0" y="20399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95599" y="3042969"/>
            <a:ext cx="3302527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5" indent="-388618" lvl="1">
              <a:lnSpc>
                <a:spcPts val="4103"/>
              </a:lnSpc>
              <a:buFont typeface="Arial"/>
              <a:buChar char="•"/>
            </a:pPr>
            <a:r>
              <a:rPr lang="en-US" b="true" sz="3599">
                <a:solidFill>
                  <a:srgbClr val="3B558F"/>
                </a:solidFill>
                <a:latin typeface="Koho Bold"/>
                <a:ea typeface="Koho Bold"/>
                <a:cs typeface="Koho Bold"/>
                <a:sym typeface="Koho Bold"/>
              </a:rPr>
              <a:t>Entidades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95599" y="5162550"/>
            <a:ext cx="3637359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5" indent="-388618" lvl="1">
              <a:lnSpc>
                <a:spcPts val="4103"/>
              </a:lnSpc>
              <a:buFont typeface="Arial"/>
              <a:buChar char="•"/>
            </a:pPr>
            <a:r>
              <a:rPr lang="en-US" b="true" sz="3599">
                <a:solidFill>
                  <a:srgbClr val="3B558F"/>
                </a:solidFill>
                <a:latin typeface="Koho Bold"/>
                <a:ea typeface="Koho Bold"/>
                <a:cs typeface="Koho Bold"/>
                <a:sym typeface="Koho Bold"/>
              </a:rPr>
              <a:t>Value objects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95599" y="7258879"/>
            <a:ext cx="5548401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5" indent="-388618" lvl="1">
              <a:lnSpc>
                <a:spcPts val="4103"/>
              </a:lnSpc>
              <a:buFont typeface="Arial"/>
              <a:buChar char="•"/>
            </a:pPr>
            <a:r>
              <a:rPr lang="en-US" b="true" sz="3599">
                <a:solidFill>
                  <a:srgbClr val="3B558F"/>
                </a:solidFill>
                <a:latin typeface="Koho Bold"/>
                <a:ea typeface="Koho Bold"/>
                <a:cs typeface="Koho Bold"/>
                <a:sym typeface="Koho Bold"/>
              </a:rPr>
              <a:t>Servicios de dominio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6781" y="827049"/>
            <a:ext cx="1173443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PRÁCTICA 3: MODELO DE DOMINIO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65692">
            <a:off x="-7395545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8367064">
            <a:off x="11379342" y="-58574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3">
              <a:alphaModFix amt="43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6778" y="651321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6" y="0"/>
                </a:lnTo>
                <a:lnTo>
                  <a:pt x="1690766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55908" y="1665250"/>
            <a:ext cx="10176184" cy="8102786"/>
          </a:xfrm>
          <a:custGeom>
            <a:avLst/>
            <a:gdLst/>
            <a:ahLst/>
            <a:cxnLst/>
            <a:rect r="r" b="b" t="t" l="l"/>
            <a:pathLst>
              <a:path h="8102786" w="10176184">
                <a:moveTo>
                  <a:pt x="0" y="0"/>
                </a:moveTo>
                <a:lnTo>
                  <a:pt x="10176184" y="0"/>
                </a:lnTo>
                <a:lnTo>
                  <a:pt x="10176184" y="8102786"/>
                </a:lnTo>
                <a:lnTo>
                  <a:pt x="0" y="81027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6781" y="827049"/>
            <a:ext cx="1173443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PRÁCTICA 4: MODELO DE SEGURIDAD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65692">
            <a:off x="-7395545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8367064">
            <a:off x="11379342" y="-58574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6778" y="651321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6" y="0"/>
                </a:lnTo>
                <a:lnTo>
                  <a:pt x="1690766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63721" y="2288653"/>
            <a:ext cx="11360558" cy="5062782"/>
          </a:xfrm>
          <a:custGeom>
            <a:avLst/>
            <a:gdLst/>
            <a:ahLst/>
            <a:cxnLst/>
            <a:rect r="r" b="b" t="t" l="l"/>
            <a:pathLst>
              <a:path h="5062782" w="11360558">
                <a:moveTo>
                  <a:pt x="0" y="0"/>
                </a:moveTo>
                <a:lnTo>
                  <a:pt x="11360558" y="0"/>
                </a:lnTo>
                <a:lnTo>
                  <a:pt x="11360558" y="5062782"/>
                </a:lnTo>
                <a:lnTo>
                  <a:pt x="0" y="50627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592" r="0" b="-259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76781" y="7578779"/>
            <a:ext cx="11734437" cy="206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5" indent="-388618" lvl="1">
              <a:lnSpc>
                <a:spcPts val="4103"/>
              </a:lnSpc>
              <a:buFont typeface="Arial"/>
              <a:buChar char="•"/>
            </a:pPr>
            <a:r>
              <a:rPr lang="en-US" b="true" sz="3599">
                <a:solidFill>
                  <a:srgbClr val="3B558F"/>
                </a:solidFill>
                <a:latin typeface="Koho Bold"/>
                <a:ea typeface="Koho Bold"/>
                <a:cs typeface="Koho Bold"/>
                <a:sym typeface="Koho Bold"/>
              </a:rPr>
              <a:t>Archivos protegidos:</a:t>
            </a:r>
            <a:r>
              <a:rPr lang="en-US" sz="3599">
                <a:solidFill>
                  <a:srgbClr val="3B558F"/>
                </a:solidFill>
                <a:latin typeface="Koho"/>
                <a:ea typeface="Koho"/>
                <a:cs typeface="Koho"/>
                <a:sym typeface="Koho"/>
              </a:rPr>
              <a:t> m</a:t>
            </a:r>
            <a:r>
              <a:rPr lang="en-US" sz="3599">
                <a:solidFill>
                  <a:srgbClr val="3B558F"/>
                </a:solidFill>
                <a:latin typeface="Koho"/>
                <a:ea typeface="Koho"/>
                <a:cs typeface="Koho"/>
                <a:sym typeface="Koho"/>
              </a:rPr>
              <a:t>onedero, credenciales SSO, apuntes, historial </a:t>
            </a:r>
          </a:p>
          <a:p>
            <a:pPr algn="l" marL="777235" indent="-388618" lvl="1">
              <a:lnSpc>
                <a:spcPts val="4103"/>
              </a:lnSpc>
              <a:buFont typeface="Arial"/>
              <a:buChar char="•"/>
            </a:pPr>
            <a:r>
              <a:rPr lang="en-US" b="true" sz="3599">
                <a:solidFill>
                  <a:srgbClr val="3B558F"/>
                </a:solidFill>
                <a:latin typeface="Koho Bold"/>
                <a:ea typeface="Koho Bold"/>
                <a:cs typeface="Koho Bold"/>
                <a:sym typeface="Koho Bold"/>
              </a:rPr>
              <a:t>Ataques identificados: </a:t>
            </a:r>
            <a:r>
              <a:rPr lang="en-US" sz="3599">
                <a:solidFill>
                  <a:srgbClr val="3B558F"/>
                </a:solidFill>
                <a:latin typeface="Koho"/>
                <a:ea typeface="Koho"/>
                <a:cs typeface="Koho"/>
                <a:sym typeface="Koho"/>
              </a:rPr>
              <a:t>bots de entrega, plagio, phishing, Man-in-the-Middle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6781" y="827049"/>
            <a:ext cx="11734437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PRÁCTICA 5: GESTOR DE CREDENCIALES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65692">
            <a:off x="-7395545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8367064">
            <a:off x="11369817" y="-58574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3">
              <a:alphaModFix amt="43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6778" y="651321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6" y="0"/>
                </a:lnTo>
                <a:lnTo>
                  <a:pt x="1690766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77544" y="2835022"/>
            <a:ext cx="14485403" cy="638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5" indent="-399412" lvl="1">
              <a:lnSpc>
                <a:spcPts val="4624"/>
              </a:lnSpc>
              <a:buFont typeface="Arial"/>
              <a:buChar char="•"/>
            </a:pPr>
            <a:r>
              <a:rPr lang="en-US" b="true" sz="36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Gestionar de forma segura:</a:t>
            </a:r>
          </a:p>
          <a:p>
            <a:pPr algn="l" marL="1597649" indent="-532550" lvl="2">
              <a:lnSpc>
                <a:spcPts val="4624"/>
              </a:lnSpc>
              <a:buFont typeface="Arial"/>
              <a:buChar char="⚬"/>
            </a:pPr>
            <a:r>
              <a:rPr lang="en-US" b="true" sz="36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Credenciales</a:t>
            </a: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 de profesores.</a:t>
            </a:r>
          </a:p>
          <a:p>
            <a:pPr algn="l" marL="1597649" indent="-532550" lvl="2">
              <a:lnSpc>
                <a:spcPts val="4624"/>
              </a:lnSpc>
              <a:buFont typeface="Arial"/>
              <a:buChar char="⚬"/>
            </a:pPr>
            <a:r>
              <a:rPr lang="en-US" b="true" sz="36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Sesiones</a:t>
            </a: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 autenticadas.</a:t>
            </a:r>
          </a:p>
          <a:p>
            <a:pPr algn="l" marL="1597649" indent="-532550" lvl="2">
              <a:lnSpc>
                <a:spcPts val="4624"/>
              </a:lnSpc>
              <a:buFont typeface="Arial"/>
              <a:buChar char="⚬"/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Credenciales de acceso a </a:t>
            </a:r>
            <a:r>
              <a:rPr lang="en-US" b="true" sz="36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tokens</a:t>
            </a: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 UniCoin.</a:t>
            </a:r>
          </a:p>
          <a:p>
            <a:pPr algn="l" marL="798825" indent="-399412" lvl="1">
              <a:lnSpc>
                <a:spcPts val="4624"/>
              </a:lnSpc>
              <a:buFont typeface="Arial"/>
              <a:buChar char="•"/>
            </a:pPr>
            <a:r>
              <a:rPr lang="en-US" b="true" sz="36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Medidas implementada</a:t>
            </a:r>
            <a:r>
              <a:rPr lang="en-US" b="true" sz="36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: </a:t>
            </a:r>
          </a:p>
          <a:p>
            <a:pPr algn="l" marL="1597649" indent="-532550" lvl="2">
              <a:lnSpc>
                <a:spcPts val="4624"/>
              </a:lnSpc>
              <a:buFont typeface="Arial"/>
              <a:buChar char="⚬"/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Contr</a:t>
            </a: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aseñas protegidas con PBKDF2-HMAC-</a:t>
            </a:r>
            <a:r>
              <a:rPr lang="en-US" b="true" sz="36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SHA256</a:t>
            </a:r>
          </a:p>
          <a:p>
            <a:pPr algn="l" marL="1597649" indent="-532550" lvl="2">
              <a:lnSpc>
                <a:spcPts val="4624"/>
              </a:lnSpc>
              <a:buFont typeface="Arial"/>
              <a:buChar char="⚬"/>
            </a:pPr>
            <a:r>
              <a:rPr lang="en-US" b="true" sz="36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Salt</a:t>
            </a: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 aleatorio de 16 bytes</a:t>
            </a:r>
          </a:p>
          <a:p>
            <a:pPr algn="l" marL="1597649" indent="-532550" lvl="2">
              <a:lnSpc>
                <a:spcPts val="4624"/>
              </a:lnSpc>
              <a:buFont typeface="Arial"/>
              <a:buChar char="⚬"/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210.000 iteraciones de </a:t>
            </a:r>
            <a:r>
              <a:rPr lang="en-US" b="true" sz="36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derivación de clave</a:t>
            </a:r>
          </a:p>
          <a:p>
            <a:pPr algn="l" marL="1597649" indent="-532550" lvl="2">
              <a:lnSpc>
                <a:spcPts val="4624"/>
              </a:lnSpc>
              <a:buFont typeface="Arial"/>
              <a:buChar char="⚬"/>
            </a:pPr>
            <a:r>
              <a:rPr lang="en-US" b="true" sz="36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Política</a:t>
            </a: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 de contraseñas robustas</a:t>
            </a:r>
          </a:p>
          <a:p>
            <a:pPr algn="l" marL="1597649" indent="-532550" lvl="2">
              <a:lnSpc>
                <a:spcPts val="4624"/>
              </a:lnSpc>
              <a:buFont typeface="Arial"/>
              <a:buChar char="⚬"/>
            </a:pPr>
            <a:r>
              <a:rPr lang="en-US" b="true" sz="3699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Tokens de sesión aleatorios</a:t>
            </a: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 con secrets.token_urlsafe()</a:t>
            </a:r>
          </a:p>
          <a:p>
            <a:pPr algn="l">
              <a:lnSpc>
                <a:spcPts val="462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023779" y="1790092"/>
            <a:ext cx="5380804" cy="2493543"/>
          </a:xfrm>
          <a:custGeom>
            <a:avLst/>
            <a:gdLst/>
            <a:ahLst/>
            <a:cxnLst/>
            <a:rect r="r" b="b" t="t" l="l"/>
            <a:pathLst>
              <a:path h="2493543" w="5380804">
                <a:moveTo>
                  <a:pt x="0" y="0"/>
                </a:moveTo>
                <a:lnTo>
                  <a:pt x="5380803" y="0"/>
                </a:lnTo>
                <a:lnTo>
                  <a:pt x="5380803" y="2493543"/>
                </a:lnTo>
                <a:lnTo>
                  <a:pt x="0" y="24935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6781" y="827049"/>
            <a:ext cx="11734437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PRÁCTICA 5: GESTOR DE CREDENCIALES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65692">
            <a:off x="-7395545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8367064">
            <a:off x="11369817" y="-58574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3">
              <a:alphaModFix amt="43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6778" y="651321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6" y="0"/>
                </a:lnTo>
                <a:lnTo>
                  <a:pt x="1690766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72012" y="2610106"/>
            <a:ext cx="11839207" cy="7266313"/>
          </a:xfrm>
          <a:custGeom>
            <a:avLst/>
            <a:gdLst/>
            <a:ahLst/>
            <a:cxnLst/>
            <a:rect r="r" b="b" t="t" l="l"/>
            <a:pathLst>
              <a:path h="7266313" w="11839207">
                <a:moveTo>
                  <a:pt x="0" y="0"/>
                </a:moveTo>
                <a:lnTo>
                  <a:pt x="11839207" y="0"/>
                </a:lnTo>
                <a:lnTo>
                  <a:pt x="11839207" y="7266313"/>
                </a:lnTo>
                <a:lnTo>
                  <a:pt x="0" y="72663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6781" y="827049"/>
            <a:ext cx="1173443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PRÁCTICA 5: APLICACIÓN DE S-TDD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65692">
            <a:off x="-7395545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5465144" y="3574191"/>
            <a:ext cx="9018506" cy="0"/>
          </a:xfrm>
          <a:prstGeom prst="line">
            <a:avLst/>
          </a:prstGeom>
          <a:ln cap="flat" w="95250">
            <a:solidFill>
              <a:srgbClr val="2B3B5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2719875" y="2607479"/>
            <a:ext cx="3527550" cy="1933424"/>
            <a:chOff x="0" y="0"/>
            <a:chExt cx="929067" cy="5092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9067" cy="509215"/>
            </a:xfrm>
            <a:custGeom>
              <a:avLst/>
              <a:gdLst/>
              <a:ahLst/>
              <a:cxnLst/>
              <a:rect r="r" b="b" t="t" l="l"/>
              <a:pathLst>
                <a:path h="509215" w="929067">
                  <a:moveTo>
                    <a:pt x="37310" y="0"/>
                  </a:moveTo>
                  <a:lnTo>
                    <a:pt x="891757" y="0"/>
                  </a:lnTo>
                  <a:cubicBezTo>
                    <a:pt x="901652" y="0"/>
                    <a:pt x="911142" y="3931"/>
                    <a:pt x="918139" y="10928"/>
                  </a:cubicBezTo>
                  <a:cubicBezTo>
                    <a:pt x="925136" y="17925"/>
                    <a:pt x="929067" y="27415"/>
                    <a:pt x="929067" y="37310"/>
                  </a:cubicBezTo>
                  <a:lnTo>
                    <a:pt x="929067" y="471905"/>
                  </a:lnTo>
                  <a:cubicBezTo>
                    <a:pt x="929067" y="481800"/>
                    <a:pt x="925136" y="491290"/>
                    <a:pt x="918139" y="498287"/>
                  </a:cubicBezTo>
                  <a:cubicBezTo>
                    <a:pt x="911142" y="505284"/>
                    <a:pt x="901652" y="509215"/>
                    <a:pt x="891757" y="509215"/>
                  </a:cubicBezTo>
                  <a:lnTo>
                    <a:pt x="37310" y="509215"/>
                  </a:lnTo>
                  <a:cubicBezTo>
                    <a:pt x="27415" y="509215"/>
                    <a:pt x="17925" y="505284"/>
                    <a:pt x="10928" y="498287"/>
                  </a:cubicBezTo>
                  <a:cubicBezTo>
                    <a:pt x="3931" y="491290"/>
                    <a:pt x="0" y="481800"/>
                    <a:pt x="0" y="471905"/>
                  </a:cubicBezTo>
                  <a:lnTo>
                    <a:pt x="0" y="37310"/>
                  </a:lnTo>
                  <a:cubicBezTo>
                    <a:pt x="0" y="27415"/>
                    <a:pt x="3931" y="17925"/>
                    <a:pt x="10928" y="10928"/>
                  </a:cubicBezTo>
                  <a:cubicBezTo>
                    <a:pt x="17925" y="3931"/>
                    <a:pt x="27415" y="0"/>
                    <a:pt x="37310" y="0"/>
                  </a:cubicBezTo>
                  <a:close/>
                </a:path>
              </a:pathLst>
            </a:custGeom>
            <a:solidFill>
              <a:srgbClr val="079A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929067" cy="623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FFFFFF"/>
                  </a:solidFill>
                  <a:latin typeface="Neo Tech Bold"/>
                  <a:ea typeface="Neo Tech Bold"/>
                  <a:cs typeface="Neo Tech Bold"/>
                  <a:sym typeface="Neo Tech Bold"/>
                </a:rPr>
                <a:t>REFACTOR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8367064">
            <a:off x="11369817" y="-58574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3">
              <a:alphaModFix amt="43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6778" y="651321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6" y="0"/>
                </a:lnTo>
                <a:lnTo>
                  <a:pt x="1690766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327917" y="2607479"/>
            <a:ext cx="3527550" cy="1933424"/>
            <a:chOff x="0" y="0"/>
            <a:chExt cx="929067" cy="5092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9067" cy="509215"/>
            </a:xfrm>
            <a:custGeom>
              <a:avLst/>
              <a:gdLst/>
              <a:ahLst/>
              <a:cxnLst/>
              <a:rect r="r" b="b" t="t" l="l"/>
              <a:pathLst>
                <a:path h="509215" w="929067">
                  <a:moveTo>
                    <a:pt x="37310" y="0"/>
                  </a:moveTo>
                  <a:lnTo>
                    <a:pt x="891757" y="0"/>
                  </a:lnTo>
                  <a:cubicBezTo>
                    <a:pt x="901652" y="0"/>
                    <a:pt x="911142" y="3931"/>
                    <a:pt x="918139" y="10928"/>
                  </a:cubicBezTo>
                  <a:cubicBezTo>
                    <a:pt x="925136" y="17925"/>
                    <a:pt x="929067" y="27415"/>
                    <a:pt x="929067" y="37310"/>
                  </a:cubicBezTo>
                  <a:lnTo>
                    <a:pt x="929067" y="471905"/>
                  </a:lnTo>
                  <a:cubicBezTo>
                    <a:pt x="929067" y="481800"/>
                    <a:pt x="925136" y="491290"/>
                    <a:pt x="918139" y="498287"/>
                  </a:cubicBezTo>
                  <a:cubicBezTo>
                    <a:pt x="911142" y="505284"/>
                    <a:pt x="901652" y="509215"/>
                    <a:pt x="891757" y="509215"/>
                  </a:cubicBezTo>
                  <a:lnTo>
                    <a:pt x="37310" y="509215"/>
                  </a:lnTo>
                  <a:cubicBezTo>
                    <a:pt x="27415" y="509215"/>
                    <a:pt x="17925" y="505284"/>
                    <a:pt x="10928" y="498287"/>
                  </a:cubicBezTo>
                  <a:cubicBezTo>
                    <a:pt x="3931" y="491290"/>
                    <a:pt x="0" y="481800"/>
                    <a:pt x="0" y="471905"/>
                  </a:cubicBezTo>
                  <a:lnTo>
                    <a:pt x="0" y="37310"/>
                  </a:lnTo>
                  <a:cubicBezTo>
                    <a:pt x="0" y="27415"/>
                    <a:pt x="3931" y="17925"/>
                    <a:pt x="10928" y="10928"/>
                  </a:cubicBezTo>
                  <a:cubicBezTo>
                    <a:pt x="17925" y="3931"/>
                    <a:pt x="27415" y="0"/>
                    <a:pt x="37310" y="0"/>
                  </a:cubicBezTo>
                  <a:close/>
                </a:path>
              </a:pathLst>
            </a:custGeom>
            <a:solidFill>
              <a:srgbClr val="C8070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929067" cy="623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FFFFFF"/>
                  </a:solidFill>
                  <a:latin typeface="Neo Tech Bold"/>
                  <a:ea typeface="Neo Tech Bold"/>
                  <a:cs typeface="Neo Tech Bold"/>
                  <a:sym typeface="Neo Tech Bold"/>
                </a:rPr>
                <a:t>RED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379476" y="2607479"/>
            <a:ext cx="3527550" cy="1933424"/>
            <a:chOff x="0" y="0"/>
            <a:chExt cx="929067" cy="5092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9067" cy="509215"/>
            </a:xfrm>
            <a:custGeom>
              <a:avLst/>
              <a:gdLst/>
              <a:ahLst/>
              <a:cxnLst/>
              <a:rect r="r" b="b" t="t" l="l"/>
              <a:pathLst>
                <a:path h="509215" w="929067">
                  <a:moveTo>
                    <a:pt x="37310" y="0"/>
                  </a:moveTo>
                  <a:lnTo>
                    <a:pt x="891757" y="0"/>
                  </a:lnTo>
                  <a:cubicBezTo>
                    <a:pt x="901652" y="0"/>
                    <a:pt x="911142" y="3931"/>
                    <a:pt x="918139" y="10928"/>
                  </a:cubicBezTo>
                  <a:cubicBezTo>
                    <a:pt x="925136" y="17925"/>
                    <a:pt x="929067" y="27415"/>
                    <a:pt x="929067" y="37310"/>
                  </a:cubicBezTo>
                  <a:lnTo>
                    <a:pt x="929067" y="471905"/>
                  </a:lnTo>
                  <a:cubicBezTo>
                    <a:pt x="929067" y="481800"/>
                    <a:pt x="925136" y="491290"/>
                    <a:pt x="918139" y="498287"/>
                  </a:cubicBezTo>
                  <a:cubicBezTo>
                    <a:pt x="911142" y="505284"/>
                    <a:pt x="901652" y="509215"/>
                    <a:pt x="891757" y="509215"/>
                  </a:cubicBezTo>
                  <a:lnTo>
                    <a:pt x="37310" y="509215"/>
                  </a:lnTo>
                  <a:cubicBezTo>
                    <a:pt x="27415" y="509215"/>
                    <a:pt x="17925" y="505284"/>
                    <a:pt x="10928" y="498287"/>
                  </a:cubicBezTo>
                  <a:cubicBezTo>
                    <a:pt x="3931" y="491290"/>
                    <a:pt x="0" y="481800"/>
                    <a:pt x="0" y="471905"/>
                  </a:cubicBezTo>
                  <a:lnTo>
                    <a:pt x="0" y="37310"/>
                  </a:lnTo>
                  <a:cubicBezTo>
                    <a:pt x="0" y="27415"/>
                    <a:pt x="3931" y="17925"/>
                    <a:pt x="10928" y="10928"/>
                  </a:cubicBezTo>
                  <a:cubicBezTo>
                    <a:pt x="17925" y="3931"/>
                    <a:pt x="27415" y="0"/>
                    <a:pt x="37310" y="0"/>
                  </a:cubicBezTo>
                  <a:close/>
                </a:path>
              </a:pathLst>
            </a:custGeom>
            <a:solidFill>
              <a:srgbClr val="96C80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14300"/>
              <a:ext cx="929067" cy="623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FFFFFF"/>
                  </a:solidFill>
                  <a:latin typeface="Neo Tech Bold"/>
                  <a:ea typeface="Neo Tech Bold"/>
                  <a:cs typeface="Neo Tech Bold"/>
                  <a:sym typeface="Neo Tech Bold"/>
                </a:rPr>
                <a:t>GREEN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5400000">
            <a:off x="7106855" y="3335647"/>
            <a:ext cx="545242" cy="477087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B3B5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5400000">
            <a:off x="12447253" y="3335647"/>
            <a:ext cx="545242" cy="477087"/>
            <a:chOff x="0" y="0"/>
            <a:chExt cx="8128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B3B5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930039" y="5124450"/>
            <a:ext cx="4323306" cy="464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4"/>
              </a:lnSpc>
            </a:pPr>
            <a:r>
              <a:rPr lang="en-US" sz="3699" b="true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Pruebas funcionales + Pruebas de seguridad</a:t>
            </a:r>
          </a:p>
          <a:p>
            <a:pPr algn="ctr">
              <a:lnSpc>
                <a:spcPts val="4624"/>
              </a:lnSpc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Modelo de datos</a:t>
            </a:r>
          </a:p>
          <a:p>
            <a:pPr algn="ctr">
              <a:lnSpc>
                <a:spcPts val="4624"/>
              </a:lnSpc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Subida y validación</a:t>
            </a:r>
          </a:p>
          <a:p>
            <a:pPr algn="ctr">
              <a:lnSpc>
                <a:spcPts val="4624"/>
              </a:lnSpc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Notificaciones</a:t>
            </a:r>
          </a:p>
          <a:p>
            <a:pPr algn="ctr">
              <a:lnSpc>
                <a:spcPts val="4624"/>
              </a:lnSpc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Tokens</a:t>
            </a:r>
          </a:p>
          <a:p>
            <a:pPr algn="ctr">
              <a:lnSpc>
                <a:spcPts val="4624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6715731" y="5019675"/>
            <a:ext cx="4855042" cy="357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4"/>
              </a:lnSpc>
            </a:pPr>
            <a:r>
              <a:rPr lang="en-US" sz="3699" b="true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Patrones de seguridad</a:t>
            </a:r>
          </a:p>
          <a:p>
            <a:pPr algn="ctr">
              <a:lnSpc>
                <a:spcPts val="5734"/>
              </a:lnSpc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Design by Contract</a:t>
            </a:r>
          </a:p>
          <a:p>
            <a:pPr algn="ctr">
              <a:lnSpc>
                <a:spcPts val="5734"/>
              </a:lnSpc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Secure Strategy Factory</a:t>
            </a:r>
          </a:p>
          <a:p>
            <a:pPr algn="ctr">
              <a:lnSpc>
                <a:spcPts val="5734"/>
              </a:lnSpc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Secure Proxy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30927" y="5019675"/>
            <a:ext cx="5705446" cy="285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4"/>
              </a:lnSpc>
            </a:pPr>
            <a:r>
              <a:rPr lang="en-US" sz="3699" b="true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SonarQube</a:t>
            </a:r>
          </a:p>
          <a:p>
            <a:pPr algn="ctr">
              <a:lnSpc>
                <a:spcPts val="5734"/>
              </a:lnSpc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Calidad</a:t>
            </a:r>
          </a:p>
          <a:p>
            <a:pPr algn="ctr">
              <a:lnSpc>
                <a:spcPts val="5734"/>
              </a:lnSpc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Legibilidad</a:t>
            </a:r>
          </a:p>
          <a:p>
            <a:pPr algn="ctr">
              <a:lnSpc>
                <a:spcPts val="5734"/>
              </a:lnSpc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Seguridad</a:t>
            </a: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6781" y="827049"/>
            <a:ext cx="1173443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PRÁCTICA 6: DISEÑO SEGURO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65692">
            <a:off x="-7395545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8367064">
            <a:off x="11369817" y="-58574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3">
              <a:alphaModFix amt="43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6778" y="651321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6" y="0"/>
                </a:lnTo>
                <a:lnTo>
                  <a:pt x="1690766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77544" y="2845753"/>
            <a:ext cx="6139824" cy="6059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</a:pPr>
            <a:r>
              <a:rPr lang="en-US" sz="4499" b="true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Patrones de Seguridad</a:t>
            </a:r>
          </a:p>
          <a:p>
            <a:pPr algn="ctr">
              <a:lnSpc>
                <a:spcPts val="5919"/>
              </a:lnSpc>
            </a:pPr>
            <a:r>
              <a:rPr lang="en-US" sz="3699" b="true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Design by Contract</a:t>
            </a:r>
          </a:p>
          <a:p>
            <a:pPr algn="ctr">
              <a:lnSpc>
                <a:spcPts val="5919"/>
              </a:lnSpc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@require / @ensure</a:t>
            </a:r>
          </a:p>
          <a:p>
            <a:pPr algn="ctr">
              <a:lnSpc>
                <a:spcPts val="5919"/>
              </a:lnSpc>
            </a:pPr>
            <a:r>
              <a:rPr lang="en-US" sz="3699" b="true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Secure Proxy</a:t>
            </a:r>
          </a:p>
          <a:p>
            <a:pPr algn="ctr">
              <a:lnSpc>
                <a:spcPts val="5919"/>
              </a:lnSpc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ProxyProfesorUniCoin</a:t>
            </a:r>
          </a:p>
          <a:p>
            <a:pPr algn="ctr">
              <a:lnSpc>
                <a:spcPts val="5919"/>
              </a:lnSpc>
            </a:pPr>
            <a:r>
              <a:rPr lang="en-US" sz="3699" b="true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Secure Strategy Factory</a:t>
            </a:r>
          </a:p>
          <a:p>
            <a:pPr algn="ctr">
              <a:lnSpc>
                <a:spcPts val="5919"/>
              </a:lnSpc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class HashFactory</a:t>
            </a:r>
          </a:p>
          <a:p>
            <a:pPr algn="ctr">
              <a:lnSpc>
                <a:spcPts val="591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2649553"/>
            <a:ext cx="6752950" cy="6802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</a:pPr>
            <a:r>
              <a:rPr lang="en-US" sz="4499" b="true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SOLID</a:t>
            </a:r>
          </a:p>
          <a:p>
            <a:pPr algn="ctr">
              <a:lnSpc>
                <a:spcPts val="5919"/>
              </a:lnSpc>
            </a:pPr>
            <a:r>
              <a:rPr lang="en-US" sz="3699" b="true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Single Responsability Principle</a:t>
            </a:r>
          </a:p>
          <a:p>
            <a:pPr algn="ctr">
              <a:lnSpc>
                <a:spcPts val="5919"/>
              </a:lnSpc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Única responsabilidad por clase </a:t>
            </a:r>
          </a:p>
          <a:p>
            <a:pPr algn="ctr">
              <a:lnSpc>
                <a:spcPts val="5919"/>
              </a:lnSpc>
            </a:pPr>
            <a:r>
              <a:rPr lang="en-US" sz="3699" b="true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Open/Closed Principle</a:t>
            </a:r>
          </a:p>
          <a:p>
            <a:pPr algn="ctr">
              <a:lnSpc>
                <a:spcPts val="5919"/>
              </a:lnSpc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Abierto a extensión / Cerrado a modificación</a:t>
            </a:r>
          </a:p>
          <a:p>
            <a:pPr algn="ctr">
              <a:lnSpc>
                <a:spcPts val="5919"/>
              </a:lnSpc>
            </a:pPr>
            <a:r>
              <a:rPr lang="en-US" sz="3699" b="true">
                <a:solidFill>
                  <a:srgbClr val="2B3B5E"/>
                </a:solidFill>
                <a:latin typeface="Koho Bold"/>
                <a:ea typeface="Koho Bold"/>
                <a:cs typeface="Koho Bold"/>
                <a:sym typeface="Koho Bold"/>
              </a:rPr>
              <a:t>Dependency Inversion Principle</a:t>
            </a:r>
          </a:p>
          <a:p>
            <a:pPr algn="ctr">
              <a:lnSpc>
                <a:spcPts val="5919"/>
              </a:lnSpc>
            </a:pPr>
            <a:r>
              <a:rPr lang="en-US" sz="3699">
                <a:solidFill>
                  <a:srgbClr val="2B3B5E"/>
                </a:solidFill>
                <a:latin typeface="Koho"/>
                <a:ea typeface="Koho"/>
                <a:cs typeface="Koho"/>
                <a:sym typeface="Koho"/>
              </a:rPr>
              <a:t>Depende de las abstracciones</a:t>
            </a:r>
          </a:p>
          <a:p>
            <a:pPr algn="ctr">
              <a:lnSpc>
                <a:spcPts val="5919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08776" y="285266"/>
            <a:ext cx="11734437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PRÁCTICA 7: TÉCNICAS DE PROGRAMACIÓN PARA SEGURIDAD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65692">
            <a:off x="-7395545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8367064">
            <a:off x="11369817" y="-58574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1760" y="210034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5" y="0"/>
                </a:lnTo>
                <a:lnTo>
                  <a:pt x="1690765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07249" y="2095777"/>
            <a:ext cx="10980751" cy="3801894"/>
          </a:xfrm>
          <a:custGeom>
            <a:avLst/>
            <a:gdLst/>
            <a:ahLst/>
            <a:cxnLst/>
            <a:rect r="r" b="b" t="t" l="l"/>
            <a:pathLst>
              <a:path h="3801894" w="10980751">
                <a:moveTo>
                  <a:pt x="0" y="0"/>
                </a:moveTo>
                <a:lnTo>
                  <a:pt x="10980751" y="0"/>
                </a:lnTo>
                <a:lnTo>
                  <a:pt x="10980751" y="3801894"/>
                </a:lnTo>
                <a:lnTo>
                  <a:pt x="0" y="3801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07" t="-92" r="-2507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9697" y="2095777"/>
            <a:ext cx="7596946" cy="8950747"/>
          </a:xfrm>
          <a:custGeom>
            <a:avLst/>
            <a:gdLst/>
            <a:ahLst/>
            <a:cxnLst/>
            <a:rect r="r" b="b" t="t" l="l"/>
            <a:pathLst>
              <a:path h="8950747" w="7596946">
                <a:moveTo>
                  <a:pt x="0" y="0"/>
                </a:moveTo>
                <a:lnTo>
                  <a:pt x="7596946" y="0"/>
                </a:lnTo>
                <a:lnTo>
                  <a:pt x="7596946" y="8950747"/>
                </a:lnTo>
                <a:lnTo>
                  <a:pt x="0" y="8950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167784" y="6575721"/>
            <a:ext cx="9259681" cy="2480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1"/>
              </a:lnSpc>
            </a:pPr>
            <a:r>
              <a:rPr lang="en-US" sz="4291">
                <a:solidFill>
                  <a:srgbClr val="3B558F"/>
                </a:solidFill>
                <a:latin typeface="Koho"/>
                <a:ea typeface="Koho"/>
                <a:cs typeface="Koho"/>
                <a:sym typeface="Koho"/>
              </a:rPr>
              <a:t>Técnicas utilizadas:</a:t>
            </a:r>
          </a:p>
          <a:p>
            <a:pPr algn="ctr">
              <a:lnSpc>
                <a:spcPts val="6651"/>
              </a:lnSpc>
            </a:pPr>
            <a:r>
              <a:rPr lang="en-US" sz="4291">
                <a:solidFill>
                  <a:srgbClr val="3B558F"/>
                </a:solidFill>
                <a:latin typeface="Koho"/>
                <a:ea typeface="Koho"/>
                <a:cs typeface="Koho"/>
                <a:sym typeface="Koho"/>
              </a:rPr>
              <a:t>-Desing By Contract:</a:t>
            </a:r>
          </a:p>
          <a:p>
            <a:pPr algn="ctr">
              <a:lnSpc>
                <a:spcPts val="6651"/>
              </a:lnSpc>
              <a:spcBef>
                <a:spcPct val="0"/>
              </a:spcBef>
            </a:pPr>
            <a:r>
              <a:rPr lang="en-US" sz="4291">
                <a:solidFill>
                  <a:srgbClr val="3B558F"/>
                </a:solidFill>
                <a:latin typeface="Koho"/>
                <a:ea typeface="Koho"/>
                <a:cs typeface="Koho"/>
                <a:sym typeface="Koho"/>
              </a:rPr>
              <a:t>-Control de acceso basado en atributos </a:t>
            </a: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08776" y="285266"/>
            <a:ext cx="11734437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PRÁCTICA 7: TÉCNICAS DE PROGRAMACIÓN PARA SEGURIDAD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65692">
            <a:off x="-7395545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8367064">
            <a:off x="11369817" y="-58574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1760" y="210034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5" y="0"/>
                </a:lnTo>
                <a:lnTo>
                  <a:pt x="1690765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1760" y="2169412"/>
            <a:ext cx="7207138" cy="1072136"/>
          </a:xfrm>
          <a:custGeom>
            <a:avLst/>
            <a:gdLst/>
            <a:ahLst/>
            <a:cxnLst/>
            <a:rect r="r" b="b" t="t" l="l"/>
            <a:pathLst>
              <a:path h="1072136" w="7207138">
                <a:moveTo>
                  <a:pt x="0" y="0"/>
                </a:moveTo>
                <a:lnTo>
                  <a:pt x="7207138" y="0"/>
                </a:lnTo>
                <a:lnTo>
                  <a:pt x="7207138" y="1072136"/>
                </a:lnTo>
                <a:lnTo>
                  <a:pt x="0" y="1072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1729" y="3808887"/>
            <a:ext cx="6226667" cy="6107628"/>
          </a:xfrm>
          <a:custGeom>
            <a:avLst/>
            <a:gdLst/>
            <a:ahLst/>
            <a:cxnLst/>
            <a:rect r="r" b="b" t="t" l="l"/>
            <a:pathLst>
              <a:path h="6107628" w="6226667">
                <a:moveTo>
                  <a:pt x="0" y="0"/>
                </a:moveTo>
                <a:lnTo>
                  <a:pt x="6226667" y="0"/>
                </a:lnTo>
                <a:lnTo>
                  <a:pt x="6226667" y="6107628"/>
                </a:lnTo>
                <a:lnTo>
                  <a:pt x="0" y="61076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12018" y="2169412"/>
            <a:ext cx="10072782" cy="3160335"/>
          </a:xfrm>
          <a:custGeom>
            <a:avLst/>
            <a:gdLst/>
            <a:ahLst/>
            <a:cxnLst/>
            <a:rect r="r" b="b" t="t" l="l"/>
            <a:pathLst>
              <a:path h="3160335" w="10072782">
                <a:moveTo>
                  <a:pt x="0" y="0"/>
                </a:moveTo>
                <a:lnTo>
                  <a:pt x="10072782" y="0"/>
                </a:lnTo>
                <a:lnTo>
                  <a:pt x="10072782" y="3160335"/>
                </a:lnTo>
                <a:lnTo>
                  <a:pt x="0" y="31603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59361" y="5697112"/>
            <a:ext cx="10178097" cy="1165590"/>
          </a:xfrm>
          <a:custGeom>
            <a:avLst/>
            <a:gdLst/>
            <a:ahLst/>
            <a:cxnLst/>
            <a:rect r="r" b="b" t="t" l="l"/>
            <a:pathLst>
              <a:path h="1165590" w="10178097">
                <a:moveTo>
                  <a:pt x="0" y="0"/>
                </a:moveTo>
                <a:lnTo>
                  <a:pt x="10178096" y="0"/>
                </a:lnTo>
                <a:lnTo>
                  <a:pt x="10178096" y="1165589"/>
                </a:lnTo>
                <a:lnTo>
                  <a:pt x="0" y="11655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565028" y="7081776"/>
            <a:ext cx="10472429" cy="31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0"/>
              </a:lnSpc>
            </a:pPr>
            <a:r>
              <a:rPr lang="en-US" sz="3200">
                <a:solidFill>
                  <a:srgbClr val="3B558F"/>
                </a:solidFill>
                <a:latin typeface="Koho"/>
                <a:ea typeface="Koho"/>
                <a:cs typeface="Koho"/>
                <a:sym typeface="Koho"/>
              </a:rPr>
              <a:t>Técnicas utilizadas:</a:t>
            </a:r>
          </a:p>
          <a:p>
            <a:pPr algn="l" marL="690881" indent="-345440" lvl="1">
              <a:lnSpc>
                <a:spcPts val="4960"/>
              </a:lnSpc>
              <a:buFont typeface="Arial"/>
              <a:buChar char="•"/>
            </a:pPr>
            <a:r>
              <a:rPr lang="en-US" sz="3200">
                <a:solidFill>
                  <a:srgbClr val="3B558F"/>
                </a:solidFill>
                <a:latin typeface="Koho"/>
                <a:ea typeface="Koho"/>
                <a:cs typeface="Koho"/>
                <a:sym typeface="Koho"/>
              </a:rPr>
              <a:t>Formatos permitidos y tamaño máximo</a:t>
            </a:r>
          </a:p>
          <a:p>
            <a:pPr algn="l" marL="690881" indent="-345440" lvl="1">
              <a:lnSpc>
                <a:spcPts val="4960"/>
              </a:lnSpc>
              <a:buFont typeface="Arial"/>
              <a:buChar char="•"/>
            </a:pPr>
            <a:r>
              <a:rPr lang="en-US" sz="3200">
                <a:solidFill>
                  <a:srgbClr val="3B558F"/>
                </a:solidFill>
                <a:latin typeface="Koho"/>
                <a:ea typeface="Koho"/>
                <a:cs typeface="Koho"/>
                <a:sym typeface="Koho"/>
              </a:rPr>
              <a:t>Autenticación Segura (PBKDF2-HMAC-SHA256)</a:t>
            </a:r>
          </a:p>
          <a:p>
            <a:pPr algn="l" marL="690881" indent="-345440" lvl="1">
              <a:lnSpc>
                <a:spcPts val="4960"/>
              </a:lnSpc>
              <a:buFont typeface="Arial"/>
              <a:buChar char="•"/>
            </a:pPr>
            <a:r>
              <a:rPr lang="en-US" sz="3200">
                <a:solidFill>
                  <a:srgbClr val="3B558F"/>
                </a:solidFill>
                <a:latin typeface="Koho"/>
                <a:ea typeface="Koho"/>
                <a:cs typeface="Koho"/>
                <a:sym typeface="Koho"/>
              </a:rPr>
              <a:t>Validación de Archivos Subidos</a:t>
            </a:r>
          </a:p>
          <a:p>
            <a:pPr algn="l" marL="690881" indent="-345440" lvl="1">
              <a:lnSpc>
                <a:spcPts val="496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3B558F"/>
                </a:solidFill>
                <a:latin typeface="Koho"/>
                <a:ea typeface="Koho"/>
                <a:cs typeface="Koho"/>
                <a:sym typeface="Koho"/>
              </a:rPr>
              <a:t>Tokens Seguros (Generación y Separación)</a:t>
            </a:r>
          </a:p>
        </p:txBody>
      </p: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6781" y="827049"/>
            <a:ext cx="11734437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PRÁCTICA 8: HERRAMIENTAS SAST Y MEJORA DE CÓDIGO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65692">
            <a:off x="-7395545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8367064">
            <a:off x="11369817" y="-58574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6778" y="651321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6" y="0"/>
                </a:lnTo>
                <a:lnTo>
                  <a:pt x="1690766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52454" y="2568603"/>
            <a:ext cx="7739573" cy="5282259"/>
          </a:xfrm>
          <a:custGeom>
            <a:avLst/>
            <a:gdLst/>
            <a:ahLst/>
            <a:cxnLst/>
            <a:rect r="r" b="b" t="t" l="l"/>
            <a:pathLst>
              <a:path h="5282259" w="7739573">
                <a:moveTo>
                  <a:pt x="0" y="0"/>
                </a:moveTo>
                <a:lnTo>
                  <a:pt x="7739573" y="0"/>
                </a:lnTo>
                <a:lnTo>
                  <a:pt x="7739573" y="5282258"/>
                </a:lnTo>
                <a:lnTo>
                  <a:pt x="0" y="52822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3418053"/>
            <a:ext cx="8983742" cy="2894150"/>
          </a:xfrm>
          <a:custGeom>
            <a:avLst/>
            <a:gdLst/>
            <a:ahLst/>
            <a:cxnLst/>
            <a:rect r="r" b="b" t="t" l="l"/>
            <a:pathLst>
              <a:path h="2894150" w="8983742">
                <a:moveTo>
                  <a:pt x="0" y="0"/>
                </a:moveTo>
                <a:lnTo>
                  <a:pt x="8983742" y="0"/>
                </a:lnTo>
                <a:lnTo>
                  <a:pt x="8983742" y="2894149"/>
                </a:lnTo>
                <a:lnTo>
                  <a:pt x="0" y="28941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07" r="0" b="-183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9308" y="7360155"/>
            <a:ext cx="8542526" cy="176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9"/>
              </a:lnSpc>
            </a:pPr>
            <a:r>
              <a:rPr lang="en-US" sz="3306">
                <a:solidFill>
                  <a:srgbClr val="3B558F"/>
                </a:solidFill>
                <a:latin typeface="Koho"/>
                <a:ea typeface="Koho"/>
                <a:cs typeface="Koho"/>
                <a:sym typeface="Koho"/>
              </a:rPr>
              <a:t>Técnicas utilizadas:</a:t>
            </a:r>
          </a:p>
          <a:p>
            <a:pPr algn="l" marL="642574" indent="-321287" lvl="1">
              <a:lnSpc>
                <a:spcPts val="3392"/>
              </a:lnSpc>
              <a:buFont typeface="Arial"/>
              <a:buChar char="•"/>
            </a:pPr>
            <a:r>
              <a:rPr lang="en-US" sz="2976">
                <a:solidFill>
                  <a:srgbClr val="3B558F"/>
                </a:solidFill>
                <a:latin typeface="Koho"/>
                <a:ea typeface="Koho"/>
                <a:cs typeface="Koho"/>
                <a:sym typeface="Koho"/>
              </a:rPr>
              <a:t>Integración de Bandit (SAST de Python)</a:t>
            </a:r>
          </a:p>
          <a:p>
            <a:pPr algn="l" marL="642574" indent="-321287" lvl="1">
              <a:lnSpc>
                <a:spcPts val="3392"/>
              </a:lnSpc>
              <a:buFont typeface="Arial"/>
              <a:buChar char="•"/>
            </a:pPr>
            <a:r>
              <a:rPr lang="en-US" sz="2976">
                <a:solidFill>
                  <a:srgbClr val="3B558F"/>
                </a:solidFill>
                <a:latin typeface="Koho"/>
                <a:ea typeface="Koho"/>
                <a:cs typeface="Koho"/>
                <a:sym typeface="Koho"/>
              </a:rPr>
              <a:t>Verificación de la configuración de SonarQube</a:t>
            </a:r>
          </a:p>
          <a:p>
            <a:pPr algn="l" marL="642574" indent="-321287" lvl="1">
              <a:lnSpc>
                <a:spcPts val="3392"/>
              </a:lnSpc>
              <a:spcBef>
                <a:spcPct val="0"/>
              </a:spcBef>
              <a:buFont typeface="Arial"/>
              <a:buChar char="•"/>
            </a:pPr>
            <a:r>
              <a:rPr lang="en-US" sz="2976">
                <a:solidFill>
                  <a:srgbClr val="3B558F"/>
                </a:solidFill>
                <a:latin typeface="Koho"/>
                <a:ea typeface="Koho"/>
                <a:cs typeface="Koho"/>
                <a:sym typeface="Koho"/>
              </a:rPr>
              <a:t>Ejecución del escáner de SonarQube</a:t>
            </a:r>
          </a:p>
        </p:txBody>
      </p:sp>
    </p:spTree>
  </p:cSld>
  <p:clrMapOvr>
    <a:masterClrMapping/>
  </p:clrMapOvr>
  <p:transition spd="fast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65692">
            <a:off x="-7058062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8367064">
            <a:off x="11369817" y="-58574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9872" y="966232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5" y="0"/>
                </a:lnTo>
                <a:lnTo>
                  <a:pt x="1690765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83725" y="3270314"/>
            <a:ext cx="14520550" cy="3746371"/>
          </a:xfrm>
          <a:custGeom>
            <a:avLst/>
            <a:gdLst/>
            <a:ahLst/>
            <a:cxnLst/>
            <a:rect r="r" b="b" t="t" l="l"/>
            <a:pathLst>
              <a:path h="3746371" w="14520550">
                <a:moveTo>
                  <a:pt x="0" y="0"/>
                </a:moveTo>
                <a:lnTo>
                  <a:pt x="14520550" y="0"/>
                </a:lnTo>
                <a:lnTo>
                  <a:pt x="14520550" y="3746372"/>
                </a:lnTo>
                <a:lnTo>
                  <a:pt x="0" y="37463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292" r="0" b="-350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93027" y="1041464"/>
            <a:ext cx="12101945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  <a:spcBef>
                <a:spcPct val="0"/>
              </a:spcBef>
            </a:pPr>
            <a:r>
              <a:rPr lang="en-US" b="true" sz="50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PRUEBAS DE ANALISIS DEL SONARQUBE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83725" y="7602808"/>
            <a:ext cx="145205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  <a:spcBef>
                <a:spcPct val="0"/>
              </a:spcBef>
            </a:pPr>
            <a:r>
              <a:rPr lang="en-US" b="true" sz="5000">
                <a:solidFill>
                  <a:srgbClr val="3B558F"/>
                </a:solidFill>
                <a:latin typeface="Neo Tech Bold"/>
                <a:ea typeface="Neo Tech Bold"/>
                <a:cs typeface="Neo Tech Bold"/>
                <a:sym typeface="Neo Tech Bold"/>
              </a:rPr>
              <a:t>PASA EL ANÁLISIS ESTÁTICO DE SONARQUBE</a:t>
            </a:r>
          </a:p>
        </p:txBody>
      </p:sp>
    </p:spTree>
  </p:cSld>
  <p:clrMapOvr>
    <a:masterClrMapping/>
  </p:clrMapOvr>
  <p:transition spd="fast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55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6781" y="798474"/>
            <a:ext cx="11734437" cy="1238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9"/>
              </a:lnSpc>
            </a:pPr>
            <a:r>
              <a:rPr lang="en-US" b="true" sz="7500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MEJORAS A FUTURO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65692">
            <a:off x="-7395545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8367064">
            <a:off x="10341117" y="-1585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5">
              <a:alphaModFix amt="43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6778" y="651321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6" y="0"/>
                </a:lnTo>
                <a:lnTo>
                  <a:pt x="1690766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08053" y="3663181"/>
            <a:ext cx="4907191" cy="4310117"/>
          </a:xfrm>
          <a:custGeom>
            <a:avLst/>
            <a:gdLst/>
            <a:ahLst/>
            <a:cxnLst/>
            <a:rect r="r" b="b" t="t" l="l"/>
            <a:pathLst>
              <a:path h="4310117" w="4907191">
                <a:moveTo>
                  <a:pt x="0" y="0"/>
                </a:moveTo>
                <a:lnTo>
                  <a:pt x="4907191" y="0"/>
                </a:lnTo>
                <a:lnTo>
                  <a:pt x="4907191" y="4310116"/>
                </a:lnTo>
                <a:lnTo>
                  <a:pt x="0" y="43101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75" t="0" r="-167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16279" y="3876851"/>
            <a:ext cx="8457222" cy="386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1" indent="-503764" lvl="2">
              <a:lnSpc>
                <a:spcPts val="4374"/>
              </a:lnSpc>
              <a:buFont typeface="Arial"/>
              <a:buChar char="⚬"/>
            </a:pPr>
            <a:r>
              <a:rPr lang="en-US" b="true" sz="3499">
                <a:solidFill>
                  <a:srgbClr val="FFFFFF"/>
                </a:solidFill>
                <a:latin typeface="Koho Bold"/>
                <a:ea typeface="Koho Bold"/>
                <a:cs typeface="Koho Bold"/>
                <a:sym typeface="Koho Bold"/>
              </a:rPr>
              <a:t>IA para validación de apuntes</a:t>
            </a:r>
          </a:p>
          <a:p>
            <a:pPr algn="l">
              <a:lnSpc>
                <a:spcPts val="4374"/>
              </a:lnSpc>
            </a:pPr>
          </a:p>
          <a:p>
            <a:pPr algn="l" marL="1511291" indent="-503764" lvl="2">
              <a:lnSpc>
                <a:spcPts val="4374"/>
              </a:lnSpc>
              <a:buFont typeface="Arial"/>
              <a:buChar char="⚬"/>
            </a:pPr>
            <a:r>
              <a:rPr lang="en-US" b="true" sz="3499">
                <a:solidFill>
                  <a:srgbClr val="FFFFFF"/>
                </a:solidFill>
                <a:latin typeface="Koho Bold"/>
                <a:ea typeface="Koho Bold"/>
                <a:cs typeface="Koho Bold"/>
                <a:sym typeface="Koho Bold"/>
              </a:rPr>
              <a:t>Ampliación de la plataforma a nivel interuniversitario</a:t>
            </a:r>
          </a:p>
          <a:p>
            <a:pPr algn="l">
              <a:lnSpc>
                <a:spcPts val="4374"/>
              </a:lnSpc>
            </a:pPr>
          </a:p>
          <a:p>
            <a:pPr algn="l" marL="1511291" indent="-503764" lvl="2">
              <a:lnSpc>
                <a:spcPts val="4374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499">
                <a:solidFill>
                  <a:srgbClr val="FFFFFF"/>
                </a:solidFill>
                <a:latin typeface="Koho Bold"/>
                <a:ea typeface="Koho Bold"/>
                <a:cs typeface="Koho Bold"/>
                <a:sym typeface="Koho Bold"/>
              </a:rPr>
              <a:t>Implementación de un sistema de reseñas y valoraciones</a:t>
            </a:r>
          </a:p>
        </p:txBody>
      </p:sp>
    </p:spTree>
  </p:cSld>
  <p:clrMapOvr>
    <a:masterClrMapping/>
  </p:clrMapOvr>
  <p:transition spd="fast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55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6781" y="798474"/>
            <a:ext cx="11734437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9"/>
              </a:lnSpc>
            </a:pPr>
            <a:r>
              <a:rPr lang="en-US" b="true" sz="7500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CONCLUSIONES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14534" y="2786433"/>
            <a:ext cx="14658932" cy="38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6" indent="-377823" lvl="1">
              <a:lnSpc>
                <a:spcPts val="4374"/>
              </a:lnSpc>
              <a:buFont typeface="Arial"/>
              <a:buChar char="•"/>
            </a:pPr>
            <a:r>
              <a:rPr lang="en-US" b="true" sz="3499">
                <a:solidFill>
                  <a:srgbClr val="FFFFFF"/>
                </a:solidFill>
                <a:latin typeface="Koho Bold"/>
                <a:ea typeface="Koho Bold"/>
                <a:cs typeface="Koho Bold"/>
                <a:sym typeface="Koho Bold"/>
              </a:rPr>
              <a:t>Hemos creado una plataforma segura que motiva al alumno </a:t>
            </a:r>
          </a:p>
          <a:p>
            <a:pPr algn="l" marL="755646" indent="-377823" lvl="1">
              <a:lnSpc>
                <a:spcPts val="4374"/>
              </a:lnSpc>
              <a:buFont typeface="Arial"/>
              <a:buChar char="•"/>
            </a:pPr>
            <a:r>
              <a:rPr lang="en-US" b="true" sz="3499">
                <a:solidFill>
                  <a:srgbClr val="FFFFFF"/>
                </a:solidFill>
                <a:latin typeface="Koho Bold"/>
                <a:ea typeface="Koho Bold"/>
                <a:cs typeface="Koho Bold"/>
                <a:sym typeface="Koho Bold"/>
              </a:rPr>
              <a:t>Conseguimos un sistema muy resistente al probar la seguridad desde el principio </a:t>
            </a:r>
          </a:p>
          <a:p>
            <a:pPr algn="l" marL="755646" indent="-377823" lvl="1">
              <a:lnSpc>
                <a:spcPts val="4374"/>
              </a:lnSpc>
              <a:buFont typeface="Arial"/>
              <a:buChar char="•"/>
            </a:pPr>
            <a:r>
              <a:rPr lang="en-US" b="true" sz="3499">
                <a:solidFill>
                  <a:srgbClr val="FFFFFF"/>
                </a:solidFill>
                <a:latin typeface="Koho Bold"/>
                <a:ea typeface="Koho Bold"/>
                <a:cs typeface="Koho Bold"/>
                <a:sym typeface="Koho Bold"/>
              </a:rPr>
              <a:t>Nuestro código es más fácil de entender al usar reglas claras </a:t>
            </a:r>
          </a:p>
          <a:p>
            <a:pPr algn="l" marL="755646" indent="-377823" lvl="1">
              <a:lnSpc>
                <a:spcPts val="4374"/>
              </a:lnSpc>
              <a:buFont typeface="Arial"/>
              <a:buChar char="•"/>
            </a:pPr>
            <a:r>
              <a:rPr lang="en-US" b="true" sz="3499">
                <a:solidFill>
                  <a:srgbClr val="FFFFFF"/>
                </a:solidFill>
                <a:latin typeface="Koho Bold"/>
                <a:ea typeface="Koho Bold"/>
                <a:cs typeface="Koho Bold"/>
                <a:sym typeface="Koho Bold"/>
              </a:rPr>
              <a:t>Creamos un registro de actividad imposible de falsificar </a:t>
            </a:r>
          </a:p>
          <a:p>
            <a:pPr algn="l" marL="755646" indent="-377823" lvl="1">
              <a:lnSpc>
                <a:spcPts val="4374"/>
              </a:lnSpc>
              <a:buFont typeface="Arial"/>
              <a:buChar char="•"/>
            </a:pPr>
            <a:r>
              <a:rPr lang="en-US" b="true" sz="3499">
                <a:solidFill>
                  <a:srgbClr val="FFFFFF"/>
                </a:solidFill>
                <a:latin typeface="Koho Bold"/>
                <a:ea typeface="Koho Bold"/>
                <a:cs typeface="Koho Bold"/>
                <a:sym typeface="Koho Bold"/>
              </a:rPr>
              <a:t>Hemos dividido el programa en bloques para simplificar las pruebas automáticas.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65692">
            <a:off x="-7395545" y="461238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8367064">
            <a:off x="10341117" y="-1585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 r:embed="rId5">
              <a:alphaModFix amt="43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6778" y="651321"/>
            <a:ext cx="1690766" cy="1637333"/>
          </a:xfrm>
          <a:custGeom>
            <a:avLst/>
            <a:gdLst/>
            <a:ahLst/>
            <a:cxnLst/>
            <a:rect r="r" b="b" t="t" l="l"/>
            <a:pathLst>
              <a:path h="1637333" w="1690766">
                <a:moveTo>
                  <a:pt x="0" y="0"/>
                </a:moveTo>
                <a:lnTo>
                  <a:pt x="1690766" y="0"/>
                </a:lnTo>
                <a:lnTo>
                  <a:pt x="1690766" y="1637332"/>
                </a:lnTo>
                <a:lnTo>
                  <a:pt x="0" y="16373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55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4714869" y="1520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77642" y="4252915"/>
            <a:ext cx="9532715" cy="164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99"/>
              </a:lnSpc>
            </a:pPr>
            <a:r>
              <a:rPr lang="en-US" b="true" sz="9999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¿PREGUNTAS?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8596510">
            <a:off x="11034248" y="-140477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DAHLcrgg2HQ</dc:identifier>
  <dcterms:modified xsi:type="dcterms:W3CDTF">2011-08-01T06:04:30Z</dcterms:modified>
  <cp:revision>1</cp:revision>
  <dc:title>software</dc:title>
</cp:coreProperties>
</file>